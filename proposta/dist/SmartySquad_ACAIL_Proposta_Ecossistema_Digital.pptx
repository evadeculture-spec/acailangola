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68b2dfbe-3f6b-bd6a-517c-495ba98b157b}">
          <p14:sldIdLst>
            <p14:sldId id="256"/>
            <p14:sldId id="257"/>
          </p14:sldIdLst>
        </p14:section>
        <p14:section name="Contexto" id="{c0ab2c4c-78d6-69db-aca6-16e121974f51}">
          <p14:sldIdLst>
            <p14:sldId id="258"/>
            <p14:sldId id="259"/>
            <p14:sldId id="260"/>
          </p14:sldIdLst>
        </p14:section>
        <p14:section name="Proposta" id="{bdfa81b4-ba31-981c-6727-e41a93cbc9fd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Execução" id="{60088a98-d362-9738-a055-a5754274aba5}">
          <p14:sldIdLst>
            <p14:sldId id="268"/>
            <p14:sldId id="269"/>
            <p14:sldId id="270"/>
            <p14:sldId id="271"/>
            <p14:sldId id="272"/>
          </p14:sldIdLst>
        </p14:section>
        <p14:section name="Decisão" id="{09efaee9-4491-3f0b-6425-d9fb5fe4a1a7}">
          <p14:sldIdLst>
            <p14:sldId id="273"/>
            <p14:sldId id="274"/>
            <p14:sldId id="275"/>
          </p14:sldIdLst>
        </p14:section>
        <p14:section name="Anexo" id="{10da5337-d65e-adf2-85f2-490152ca7753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Agradecer a disponibilidade da administração. Enquadrar: esta é uma proposta para discussão, preparada especificamente para o Grupo ACAIL em Angola, que abrange três websites — ACAIL Angola, ACAIL Gás Solucions e ACAIL Pré-Fabricados. Objetivo da reunião: alinhar a visão, validar prioridades e acordar os próximos passos. Duração sugerida: 30 a 40 minutos, mais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 central: a presença digital deve refletir a dimensão real do grupo. Não estamos a propor apenas um redesenho. Propomos um pequeno ecossistema: um website institucional e dois websites especializados. Os três conceitos — identidade, especialização e crescimento — vão orientar toda a apresentação. Ler a frase final como síntese da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Smarty Squad de forma breve: somos uma parceira de soluções digitais que junta estratégia, design, engenharia e acompanhamento. Sublinhar que usamos ferramentas modernas, automatização e inteligência artificial nos processos internos, sempre com revisão humana, segurança e controlo de qualidade. Não alongar: o foco da reunião é a ACAIL. [Inserir aqui, se desejado, dados institucionais confirmados da Smarty Squad.]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preparação. A ACAIL Angola foi constituída em 2005 e organiza a sua atividade em seis setores: produtos siderúrgicos; gases industriais, medicinais e alimentares; saúde; pré-fabricação em betão; inertes; serviços industriais. A atividade serve a construção, a indústria, as infraestruturas e a saúde. O portefólio público refere obras como a Ponte da Catumbela, o Empreendimento Comandante Gika, a Nova Assembleia Nacional e o Hospital Prenda. Nota: não detalhar o âmbito de fornecimento em cada obra; essa informação será validada com a ACAIL.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 construtivo. Distinguir claramente: o que sabemos (o website atual concentra a informação de todas as áreas num único domínio) e o que ainda não foi avaliado (desempenho, segurança, SEO, acessibilidade), que será objeto de auditoria no Discovery. Os oito eixos são oportunidades de valorização — não críticas ao trabalho existente.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Ponto-chave: não estamos a dividir o website atual em três páginas. São três websites com objetivos, arquitetura e conteúdos próprios. Independentes na comunicação — cada um fala com o seu público — e coordenados na identidade e na base técnica. A banda superior representa o que os une perante o visitante; a inferior, o que os une nos bastidores e que gera eficiência.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website corporativo é a porta de entrada do grupo. Deve servir quem precisa de avaliar a ACAIL como fornecedor ou parceiro: entidades públicas, grandes clientes, investidores. Mostrar o mockup: hero institucional, indicadores factuais (ano de constituição, número de áreas), acesso direto às seis áreas de negócio. Sublinhar que o mockup é um conceito de design não aprovado; logótipo e cores oficiais serão aplicados após validação.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website dirige-se a compradores industriais, engenheiros, técnicos e gestores de instalações. O ponto central é o pedido de informação técnica e comercial, visível em todas as páginas. Importante: a oferta identificada em Angola abrange gases industriais, alimentares e medicinais e serviços de redes de gases. As categorias e os serviços concretos serão validados com a operação angolana; não transpomos automaticamente produtos ou certificações da Acail Gás em Portugal. A paleta do mockup é provisória e será alinhada com a identidade visual oficial da ACAIL Gás.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Transformar um catálogo técnico numa ferramenta comercial. Público: construtoras, empreiteiros, engenheiros, projetistas, entidades públicas e compradores. A unidade de pré-fabricados de betão situa-se em Mazozo e as categorias divulgadas são postes, blocos, tubos e lancis. Cada produto terá uma ficha clara, documentação técnica e um botão de pedido de orçamento. "ACAIL Pré-Fabricados" é usado como identificação comercial do website, sem pressupor autonomia jurídica. Funcionalidades avançadas, como pesquisa e filtros, só se o volume do catálogo o justificar.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website é desenhado a partir de um percurso real de decisão. O cliente institucional quer confiança e visão global; o comprador industrial quer saber se a ACAIL resolve a sua necessidade e falar com alguém técnico; o engenheiro quer especificações e documentação antes de pedir orçamento. O último passo de cada percurso — o contacto — é o momento que todo o design deve facilitar. Estes percursos serão confirmados em entrevistas com as equipas comerciais.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visual parte da identidade oficial de cada marca, que será preservada: logótipos, cores e regras existentes. Sobre essa base, criamos um sistema comum — tipografia, grelhas, componentes — que dá coerência aos três websites sem os tornar iguais. Cada operação tem um acento próprio. As cores aqui apresentadas são provisórias: serão substituídas pelos códigos oficiais assim que os recebermos. Fotografia: privilegiar fotografia real das instalações, produtos e obras da ACAIL, com direitos de utilização confirmados.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website institucional também é um canal comercial. Cada ponto de contacto recolhe a informação certa e chega ao departamento competente, evitando emails genéricos sem contexto. O WhatsApp empresarial só será integrado se a ACAIL o aprovar e tiver equipa para responder. Não fazemos promessas de vendas ou de conversão; propomos medir, com as regras de privacidade aplicáveis, quantos pedidos chegam por cada canal após o lançamento.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Traduzir tecnologia em benefícios. A arquitetura proposta é moderna e amplamente usada: Next.js e React para a aplicação, TypeScript para código mais robusto, Tailwind CSS para um sistema visual consistente, um CMS para os conteúdos, e publicação em Vercel ou infraestrutura equivalente. As escolhas finais serão confirmadas no Discovery, em função do alojamento preferido pela ACAIL, da equipa que vai gerir conteúdos e das regras de privacidade aplicáveis.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autonomia deve ser útil, não um fardo. Separamos o que muda pouco (institucional, contactos) do que muda com frequência (notícias, catálogos, fichas técnicas, documentação). Recomendamos um CMS apenas onde ele traz valor real. A decisão final depende de quem, na ACAIL, vai manter os conteúdos e com que regularidade — tema a tratar no Discovery.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fases, cada uma com um entregável concreto e pontos de aprovação pela ACAIL — no design, na validação e antes da publicação. As três operações podem avançar em paralelo ou de forma faseada, conforme as prioridades e a disponibilidade de conteúdos. Não apresentamos prazos nesta fase: o calendário depende do âmbito final e dos materiais disponíveis (textos, fotografias, fichas técnicas).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qualidade é um compromisso de método, não uma promessa abstrata. Antes de qualquer publicação, cada website passa por verificações de experiência, compatibilidade, formulários, links, conteúdos, SEO técnico, segurança e desempenho — e pela aprovação formal da ACAIL. Os critérios de aceitação são objetivos e acordados à partida. Não prometemos certificações nem níveis de desempenho sem os medir e enquadrar tecnicamente.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website é um produto vivo. Separamos com clareza o que está incluído no projeto inicial — publicação, documentação, passagem de conhecimento e correção de não conformidades — dos serviços recorrentes opcionais, contratados separadamente e dimensionados às necessidades. Não indicamos níveis de serviço nesta fase: serão definidos em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estrutura, não os números. Os valores ficam por definir até concluirmos o levantamento de requisitos — é a forma mais honesta de dimensionar três websites com necessidades diferentes. Proposta Essencial: três websites institucionais responsivos com conteúdos e funcionalidades nucleares. Proposta Recomendada: maior profundidade editorial, catálogos estruturados, gestão de conteúdos e funcionalidades comerciais selecionadas. Serviços Evolutivos: manutenção, automatização, integrações e desenvolvimento contínuo, contratados à parte. A contratação integrada permite partilhar estratégia, componentes, aprovações e gestão; os ganhos serão quantificados na proposta financeira. [Campos editáveis: inserir valores após validação.]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o argumento sem exageros nem comparações com concorrentes. Oito razões objetivas que decorrem de tudo o que foi apresentado: compreendemos o negócio, desenhamos para três realidades distintas, coordenamos a estratégia, personalizamos o design, estruturamos a engenharia, focamo-nos no utilizador, trabalhamos com transparência e preparamos a evolução.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Convidar à decisão com passos concretos e de baixo risco. O primeiro passo é uma reunião de alinhamento com os responsáveis das três operações; a partir daí validamos requisitos, levantamos materiais, definimos âmbito, investimento e calendário, e iniciamos o projeto após aprovação. Ler a frase final. Deixar os contactos e abrir para perguntas. [Substituir os campos entre parênteses retos pelos contactos comerciais reais.]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Anexo de referência para envio por email. Não apresentar em reunião, salvo pedido.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lar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chemeClr val="accent6"/>
                </a:solidFill>
              </a:rPr>
              <a:t>SMARTY SQUAD × ACAIL  ·  Proposta estratégica  ·  Documento para discussão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Título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e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A9B4BF"/>
                </a:solidFill>
              </a:rPr>
              <a:t>SMARTY SQUAD × ACAIL  ·  Proposta estratégica  ·  Documento para discussão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spc="-50" kern="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Título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ustração conceptual de um complexo industrial ao entardec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chemeClr val="bg1"/>
                </a:solidFill>
              </a:rPr>
              <a:t>SMARTY SQUAD  ×  ACAIL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583680" y="548640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4BF"/>
                </a:solidFill>
              </a:rPr>
              <a:t>Proposta comercial · Outubro de 2026</a:t>
            </a:r>
            <a:endParaRPr lang="en-US" sz="1000" dirty="0"/>
          </a:p>
        </p:txBody>
      </p:sp>
      <p:sp>
        <p:nvSpPr>
          <p:cNvPr id="5" name="Título da capa"/>
          <p:cNvSpPr txBox="1"/>
          <p:nvPr/>
        </p:nvSpPr>
        <p:spPr>
          <a:xfrm>
            <a:off x="548640" y="1874520"/>
            <a:ext cx="7680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spc="600" kern="0" dirty="0">
                <a:solidFill>
                  <a:schemeClr val="accent5"/>
                </a:solidFill>
              </a:rPr>
              <a:t>ACAIL ANGOLA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5400" b="1" spc="-150" kern="0" dirty="0">
                <a:solidFill>
                  <a:schemeClr val="bg1"/>
                </a:solidFill>
              </a:rPr>
              <a:t>Uma nova dimensão digital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690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5DEE7"/>
                </a:solidFill>
              </a:rPr>
              <a:t>Proposta estratégica para o desenvolvimento de três websites institucionais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5623560"/>
            <a:ext cx="6583680" cy="0"/>
          </a:xfrm>
          <a:prstGeom prst="line">
            <a:avLst/>
          </a:prstGeom>
          <a:noFill/>
          <a:ln w="9525">
            <a:solidFill>
              <a:srgbClr val="3A4A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5815584"/>
            <a:ext cx="82296" cy="8229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5751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ACAIL Angola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5815584"/>
            <a:ext cx="82296" cy="82296"/>
          </a:xfrm>
          <a:prstGeom prst="rect">
            <a:avLst/>
          </a:prstGeom>
          <a:solidFill>
            <a:srgbClr val="F09A6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926080" y="5751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ACAIL Gás Solucions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37760" y="5815584"/>
            <a:ext cx="82296" cy="82296"/>
          </a:xfrm>
          <a:prstGeom prst="rect">
            <a:avLst/>
          </a:prstGeom>
          <a:solidFill>
            <a:srgbClr val="CBB89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120640" y="5751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ACAIL Pré-Fabricados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6355080"/>
            <a:ext cx="3776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F8C99"/>
                </a:solidFill>
              </a:rPr>
              <a:t>Ilustração conceptual — não representa instalações da ACAIL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VISÃO EXECUTIVA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Uma presença digital à altura da dimensão industrial da ACAIL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4343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Propomos conceber e desenvolver três websites complementares, cada um desenhado para o seu público e para os seus objetivos comerciais — e todos ligados por uma mesma identidade de grupo.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114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accent6"/>
                </a:solidFill>
              </a:rPr>
              <a:t>O resultado: uma comunicação institucional mais clara, informação técnica mais acessível e caminhos mais curtos entre o interesse de um cliente e o contacto com a equipa certa.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257800" y="1965960"/>
            <a:ext cx="201168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2743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4416" y="2871216"/>
            <a:ext cx="292608" cy="29260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0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Identidade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3931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Uma imagem digital coerente com a experiência, a escala e a reputação do Grupo ACAIL.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388352" y="1965960"/>
            <a:ext cx="201168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16952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616952" y="2743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68" y="287121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616952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Especialização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7616952" y="3931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Websites próprios para gases e pré-fabricados, com conteúdos e percursos à medida de quem compra.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518904" y="1965960"/>
            <a:ext cx="2011680" cy="32918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9747504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9747504" y="2743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2871216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747504" y="3520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Crescimento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9747504" y="3931920"/>
            <a:ext cx="1691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chemeClr val="accent6"/>
                </a:solidFill>
              </a:rPr>
              <a:t>Uma base técnica e editorial preparada para novos conteúdos, catálogos e funcionalidades.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48640" y="5486400"/>
            <a:ext cx="11094415" cy="6400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22960" y="54864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Três áreas de negócio. Três identidades digitais. Uma visão de excelência.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5"/>
                </a:solidFill>
              </a:rPr>
              <a:t>SMARTY SQUAD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Tecnologia, estratégia e criatividade ao serviço dos negócios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chemeClr val="bg1"/>
                </a:solidFill>
              </a:rPr>
              <a:t>O trabalho não começa no código.</a:t>
            </a:r>
            <a:endParaRPr lang="en-US" sz="2200" dirty="0"/>
          </a:p>
          <a:p>
            <a:pPr indent="0" marL="0">
              <a:buNone/>
            </a:pPr>
            <a:r>
              <a:rPr lang="en-US" sz="2200" b="1" spc="-30" kern="0" dirty="0">
                <a:solidFill>
                  <a:schemeClr val="accent5"/>
                </a:solidFill>
              </a:rPr>
              <a:t>Começa na compreensão do negócio.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260604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01</a:t>
            </a:r>
            <a:endParaRPr lang="en-US" sz="1100" dirty="0"/>
          </a:p>
        </p:txBody>
      </p:sp>
      <p:pic>
        <p:nvPicPr>
          <p:cNvPr id="7" name="Image 0" descr="Estratégia digit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401568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886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Estratégia digital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26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4BF"/>
                </a:solidFill>
              </a:rPr>
              <a:t>Objetivos, públicos e prioridades definidos antes de qualquer decisão técnica.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55848" y="3246120"/>
            <a:ext cx="260604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55848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02</a:t>
            </a:r>
            <a:endParaRPr lang="en-US" sz="1100" dirty="0"/>
          </a:p>
        </p:txBody>
      </p:sp>
      <p:pic>
        <p:nvPicPr>
          <p:cNvPr id="12" name="Image 1" descr="Design e experiênci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0408" y="340156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55848" y="3886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Design e experiência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355848" y="4526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4BF"/>
                </a:solidFill>
              </a:rPr>
              <a:t>Interfaces claras e institucionais, desenhadas para transmitir confiança.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63056" y="3246120"/>
            <a:ext cx="260604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163056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03</a:t>
            </a:r>
            <a:endParaRPr lang="en-US" sz="1100" dirty="0"/>
          </a:p>
        </p:txBody>
      </p:sp>
      <p:pic>
        <p:nvPicPr>
          <p:cNvPr id="17" name="Image 2" descr="Desenvolvimento e tecnologi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340156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163056" y="3886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Desenvolvimento e tecnologia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163056" y="4526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4BF"/>
                </a:solidFill>
              </a:rPr>
              <a:t>Websites rápidos, seguros e bem estruturados, com tecnologia atual e IA usada com supervisão humana.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70264" y="3246120"/>
            <a:ext cx="260604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970264" y="3429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04</a:t>
            </a:r>
            <a:endParaRPr lang="en-US" sz="1100" dirty="0"/>
          </a:p>
        </p:txBody>
      </p:sp>
      <p:pic>
        <p:nvPicPr>
          <p:cNvPr id="22" name="Image 3" descr="Acompanhamento e evolu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340156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970264" y="38862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Acompanhamento e evolução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970264" y="452628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9B4BF"/>
                </a:solidFill>
              </a:rPr>
              <a:t>Manutenção, melhorias e novas funcionalidades à medida que o negócio cresce.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5596128"/>
            <a:ext cx="11094415" cy="5029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777240" y="5596128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Serviços nesta proposta  </a:t>
            </a:r>
            <a:pPr indent="0" marL="0">
              <a:buNone/>
            </a:pPr>
            <a:r>
              <a:rPr lang="en-US" sz="1050" dirty="0">
                <a:solidFill>
                  <a:srgbClr val="A9B4BF"/>
                </a:solidFill>
              </a:rPr>
              <a:t>Consultoria e estratégia · Arquitetura de informação · UX/UI · Desenvolvimento web · SEO técnico · CMS · Publicação e gestão técnica · Manutenção · Automatizações (opcional)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CONHECEMOS A ACAIL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Uma realidade industrial diversificada. Uma identidade de confiança.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202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chemeClr val="accent1"/>
                </a:solidFill>
              </a:rPr>
              <a:t>2005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Ano de constituição da ACAIL Angola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spc="-200" kern="0" dirty="0">
                <a:solidFill>
                  <a:schemeClr val="tx1"/>
                </a:solidFill>
              </a:rPr>
              <a:t>6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Setores de atividade, da construção à saúde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663440"/>
            <a:ext cx="329184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800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Projetos apresentados publicamente no portefólio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Ponte da Catumbela · Empreendimento Comandante Gika · Nova Assembleia Nacional · Hospital Prenda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2286000"/>
            <a:ext cx="3200400" cy="3200400"/>
          </a:xfrm>
          <a:prstGeom prst="ellipse">
            <a:avLst/>
          </a:prstGeom>
          <a:ln w="12700">
            <a:solidFill>
              <a:srgbClr val="DCE1E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858000" y="3017520"/>
            <a:ext cx="1737360" cy="173736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0" y="301752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ACAIL</a:t>
            </a:r>
            <a:endParaRPr lang="en-US" sz="1400" dirty="0"/>
          </a:p>
          <a:p>
            <a:pPr algn="ctr" indent="0" marL="0">
              <a:buNone/>
            </a:pPr>
            <a:r>
              <a:rPr lang="en-US" sz="900" spc="300" kern="0" dirty="0">
                <a:solidFill>
                  <a:schemeClr val="bg1"/>
                </a:solidFill>
              </a:rPr>
              <a:t>ANGOLA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07808" y="2167128"/>
            <a:ext cx="237744" cy="2377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60820" y="17190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Produtos siderúrgicos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3622" y="2967228"/>
            <a:ext cx="237744" cy="237744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86814" y="28849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accent2"/>
                </a:solidFill>
              </a:rPr>
              <a:t>Gases industriais, medicinais e alimentares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993622" y="4567428"/>
            <a:ext cx="237744" cy="2377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86814" y="44851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Saúde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07808" y="5367528"/>
            <a:ext cx="237744" cy="23774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0820" y="568756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3"/>
                </a:solidFill>
              </a:rPr>
              <a:t>Pré-fabricação em betão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21994" y="4567428"/>
            <a:ext cx="237744" cy="2377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34826" y="44851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Inertes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21994" y="2967228"/>
            <a:ext cx="237744" cy="23774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734826" y="28849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Serviços industriais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0" y="5989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A destaque: as áreas que terão website próprio nesta proposta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OPORTUNIDADE DIGITAL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Da presença institucional à experiência digital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8686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O QUE EXISTE HOJE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Um website único que reúne informação institucional, produtos, serviços, portefólio e contactos das várias áreas.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99632" y="1874520"/>
            <a:ext cx="5440680" cy="868680"/>
          </a:xfrm>
          <a:prstGeom prst="rect">
            <a:avLst/>
          </a:prstGeom>
          <a:ln w="12700">
            <a:solidFill>
              <a:srgbClr val="DCE1E6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6428232" y="18745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chemeClr val="accent6"/>
                </a:solidFill>
              </a:rPr>
              <a:t>A CONFIRMAR NO DIAGNÓSTICO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Desempenho, segurança, SEO e acessibilidade não foram auditados nesta fase. Serão avaliados no Discovery.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Oito eixos de evolução que propomos trabalhar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47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Apresentação visual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Uma imagem contemporânea que acompanhe a escala do grupo.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55848" y="34290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55848" y="3547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Informação institucional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767328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História, capacidade e compromissos organizados com clareza.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63056" y="34290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63056" y="3547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Áreas de negócio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74536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Cada operação com espaço, mensagem e público próprios.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70264" y="34290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70264" y="3547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381744" y="35204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Informação técnica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381744" y="3840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Produtos e documentação fáceis de encontrar e consultar.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Dispositivos móveis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5212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Experiência pensada primeiro para o telemóvel.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55848" y="48006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55848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3767328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Contacto comercial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767328" y="5212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Pedidos dirigidos ao departamento certo, sem etapas a mais.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63056" y="48006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163056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07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574536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Gestão de conteúdos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574536" y="5212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Atualizações simples, feitas pela equipa ACAIL quando fizer sentido.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970264" y="4800600"/>
            <a:ext cx="260604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70264" y="49194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08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381744" y="4892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Pesquisa orgânica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381744" y="52120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chemeClr val="accent6"/>
                </a:solidFill>
              </a:rPr>
              <a:t>Estrutura técnica que facilite a indexação nos motores de pesquisa.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5"/>
                </a:solidFill>
              </a:rPr>
              <a:t>A NOSSA PROPOSTA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Três websites. Uma estratégia digital integrada.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A9B4BF"/>
                </a:solidFill>
              </a:rPr>
              <a:t>IDENTIDADE DO GRUPO ACAIL  ·  Linguagem visual comum  ·  Navegação cruzada entre websites</a:t>
            </a:r>
            <a:endParaRPr lang="en-US" sz="1000" dirty="0"/>
          </a:p>
        </p:txBody>
      </p:sp>
      <p:pic>
        <p:nvPicPr>
          <p:cNvPr id="6" name="Image 0" descr="Ilustração conceptual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377440"/>
            <a:ext cx="3557016" cy="1143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520440"/>
            <a:ext cx="3557016" cy="2057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8" name="Shape 5"/>
          <p:cNvSpPr/>
          <p:nvPr/>
        </p:nvSpPr>
        <p:spPr>
          <a:xfrm>
            <a:off x="777240" y="3730752"/>
            <a:ext cx="109728" cy="109728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chemeClr val="bg1"/>
                </a:solidFill>
              </a:rPr>
              <a:t>ACAIL ANGOLA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Identidade corporativa e presença institucional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572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5FA8"/>
                </a:solidFill>
              </a:rPr>
              <a:t>Públicos  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A9B4BF"/>
                </a:solidFill>
              </a:rPr>
              <a:t>Administração pública, grandes clientes, parceiros e investidores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5FA8"/>
                </a:solidFill>
              </a:rPr>
              <a:t>Objetivo  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A9B4BF"/>
                </a:solidFill>
              </a:rPr>
              <a:t>Credibilidade e visão global do grupo</a:t>
            </a:r>
            <a:endParaRPr lang="en-US" sz="1050" dirty="0"/>
          </a:p>
        </p:txBody>
      </p:sp>
      <p:pic>
        <p:nvPicPr>
          <p:cNvPr id="12" name="Image 1" descr="Ilustração conceptual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15968" y="2377440"/>
            <a:ext cx="3557016" cy="11430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15968" y="3520440"/>
            <a:ext cx="3557016" cy="2057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Shape 10"/>
          <p:cNvSpPr/>
          <p:nvPr/>
        </p:nvSpPr>
        <p:spPr>
          <a:xfrm>
            <a:off x="4544568" y="3730752"/>
            <a:ext cx="109728" cy="109728"/>
          </a:xfrm>
          <a:prstGeom prst="rect">
            <a:avLst/>
          </a:prstGeom>
          <a:solidFill>
            <a:srgbClr val="E0662B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727448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chemeClr val="bg1"/>
                </a:solidFill>
              </a:rPr>
              <a:t>ACAIL GÁS SOLUCIONS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44568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Especialização técnica e soluções de gases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4544568" y="4572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0662B"/>
                </a:solidFill>
              </a:rPr>
              <a:t>Públicos  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A9B4BF"/>
                </a:solidFill>
              </a:rPr>
              <a:t>Compradores industriais, engenheiros, unidades de saúde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0662B"/>
                </a:solidFill>
              </a:rPr>
              <a:t>Objetivo  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A9B4BF"/>
                </a:solidFill>
              </a:rPr>
              <a:t>Pedidos de informação técnica e comercial</a:t>
            </a:r>
            <a:endParaRPr lang="en-US" sz="1050" dirty="0"/>
          </a:p>
        </p:txBody>
      </p:sp>
      <p:pic>
        <p:nvPicPr>
          <p:cNvPr id="18" name="Image 2" descr="Ilustração conceptual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83296" y="2377440"/>
            <a:ext cx="3557016" cy="11430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083296" y="3520440"/>
            <a:ext cx="3557016" cy="20574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Shape 15"/>
          <p:cNvSpPr/>
          <p:nvPr/>
        </p:nvSpPr>
        <p:spPr>
          <a:xfrm>
            <a:off x="8311896" y="3730752"/>
            <a:ext cx="109728" cy="109728"/>
          </a:xfrm>
          <a:prstGeom prst="rect">
            <a:avLst/>
          </a:prstGeom>
          <a:solidFill>
            <a:srgbClr val="B08A4E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8494776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chemeClr val="bg1"/>
                </a:solidFill>
              </a:rPr>
              <a:t>ACAIL PRÉ-FABRICADOS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8311896" y="40050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Produtos, especificações técnicas e oportunidades comerciais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311896" y="4572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08A4E"/>
                </a:solidFill>
              </a:rPr>
              <a:t>Públicos  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A9B4BF"/>
                </a:solidFill>
              </a:rPr>
              <a:t>Construtoras, empreiteiros, projetistas, entidades públicas</a:t>
            </a:r>
            <a:endParaRPr lang="en-US" sz="10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B08A4E"/>
                </a:solidFill>
              </a:rPr>
              <a:t>Objetivo  </a:t>
            </a:r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dirty="0">
                <a:solidFill>
                  <a:srgbClr val="A9B4BF"/>
                </a:solidFill>
              </a:rPr>
              <a:t>Pedidos de orçamento qualificados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777240" y="571500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A9B4BF"/>
                </a:solidFill>
              </a:rPr>
              <a:t>BASE PARTILHADA  ·  Sistema de design  ·  Componentes técnicos  ·  Gestão de conteúdos  ·  Publicação e manutenção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WEBSITE 01 · INSTITUCIONAL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ACAIL Angola: representar a dimensão de um grupo industrial</a:t>
            </a:r>
            <a:endParaRPr lang="en-US" sz="2800" dirty="0"/>
          </a:p>
        </p:txBody>
      </p:sp>
      <p:pic>
        <p:nvPicPr>
          <p:cNvPr id="4" name="Image 0" descr="Mockup conceptual da homepage do website ACAIL Ang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053328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6053328" cy="4206240"/>
          </a:xfrm>
          <a:prstGeom prst="rect">
            <a:avLst/>
          </a:prstGeom>
          <a:ln w="9525">
            <a:solidFill>
              <a:srgbClr val="DCE1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6089904"/>
            <a:ext cx="6053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Conceito de design — proposta não aprovada. Logótipo, cores e conteúdos a validar.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269480" y="18288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ARQUITETURA SUGERIDA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269480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Página inicial institucional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Quem Somos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03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História e percurso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269480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04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Áreas de negócio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05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Produtos e serviços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482328" y="2176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06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Capacidade e instalações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9482328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07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Projetos e portefólio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9482328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08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Qualidade e compromissos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482328" y="31638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09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Notícias e atualizações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482328" y="3493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10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Contactos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269480" y="3840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Secções definitivas dependem dos conteúdos e prioridades aprovados pela ACAIL.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269480" y="42976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O QUE ESTE WEBSITE DEVE CONSEGUIR</a:t>
            </a:r>
            <a:endParaRPr lang="en-US" sz="9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4645152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7589520" y="460857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Credibilidade institucional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percurso, instalações e obras de referência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512064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589520" y="508406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Organização da oferta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seis áreas de negócio, um ponto de entrada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5596128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89520" y="55595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Navegação clara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cada visitante chega depressa ao que procura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09A6E"/>
                </a:solidFill>
              </a:rPr>
              <a:t>WEBSITE 02 · GASES E SOLUÇÕES TÉCNICAS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ACAIL Gás Solucions: comunicar precisão, segurança e especialização</a:t>
            </a:r>
            <a:endParaRPr lang="en-US" sz="2800" dirty="0"/>
          </a:p>
        </p:txBody>
      </p:sp>
      <p:pic>
        <p:nvPicPr>
          <p:cNvPr id="4" name="Image 0" descr="Mockup conceptual da homepage do website ACAIL Gás Soluc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828800"/>
            <a:ext cx="6245352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94960" y="1828800"/>
            <a:ext cx="6245352" cy="4251960"/>
          </a:xfrm>
          <a:prstGeom prst="rect">
            <a:avLst/>
          </a:prstGeom>
          <a:ln w="9525">
            <a:solidFill>
              <a:srgbClr val="2635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94960" y="6126480"/>
            <a:ext cx="6245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9B4BF"/>
                </a:solidFill>
              </a:rPr>
              <a:t>Conceito de design — proposta não aprovada. Cores a alinhar com a identidade ACAIL Gás.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288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09A6E"/>
                </a:solidFill>
              </a:rPr>
              <a:t>ARQUITETURA SUGERIDA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15798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01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Homepage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45059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02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 Empresa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7432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03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Gases Industriais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30358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04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Gases Medicinais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32841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05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Gases Alimentares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62102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06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Soluções e Aplicações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9136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07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Redes e Serviços Técnicos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4206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08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Qualidade e Segurança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49884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09A6E"/>
                </a:solidFill>
              </a:rPr>
              <a:t>09  </a:t>
            </a:r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Contactos e Pedidos de Informação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429768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5029200"/>
            <a:ext cx="4343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Fala com dois públicos ao mesmo tempo</a:t>
            </a:r>
            <a:endParaRPr lang="en-US" sz="125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A9B4BF"/>
                </a:solidFill>
              </a:rPr>
              <a:t>Responsáveis de compras, que procuram fornecimento fiável, e equipas técnicas, que procuram aplicações e especificações. A homepage encaminha cada um para a solução certa.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3"/>
                </a:solidFill>
              </a:rPr>
              <a:t>WEBSITE 03 · CATÁLOGO TÉCNICO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ACAIL Pré-Fabricados: engenharia e produto numa experiência digital eficiente</a:t>
            </a:r>
            <a:endParaRPr lang="en-US" sz="2800" dirty="0"/>
          </a:p>
        </p:txBody>
      </p:sp>
      <p:pic>
        <p:nvPicPr>
          <p:cNvPr id="4" name="Image 0" descr="Mockup conceptual do catálogo ACAIL Pré-Fabric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858000" cy="40965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6858000" cy="4096512"/>
          </a:xfrm>
          <a:prstGeom prst="rect">
            <a:avLst/>
          </a:prstGeom>
          <a:ln w="9525">
            <a:solidFill>
              <a:srgbClr val="DCE1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9893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Conceito de design — proposta não aprovada. Produtos ilustrativos; especificações por preencher com dados ACAIL.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ARQUITETURA SUGERIDA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121408"/>
            <a:ext cx="3822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Homepage · A Empresa · Capacidade Produtiva · Catálogo de Produtos (Postes, Blocos, Tubos, Lancis) · Fichas Técnicas · Aplicações e Projetos · Pedido de Orçamento · Contactos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32918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3"/>
                </a:solidFill>
              </a:rPr>
              <a:t>FUNCIONALIDADES RECOMENDADAS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818120" y="3575304"/>
            <a:ext cx="382219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18120" y="36118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Organização por categorias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0561320" y="36118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Base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818120" y="3941064"/>
            <a:ext cx="382219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18120" y="39776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Fichas de produto e características estruturadas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0561320" y="397764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Base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7818120" y="4306824"/>
            <a:ext cx="382219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818120" y="4343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Formulário de pedido de orçamento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10561320" y="43434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Base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818120" y="4672584"/>
            <a:ext cx="382219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818120" y="47091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Contacto rápido da equipa comercial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0561320" y="470916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Base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818120" y="5038344"/>
            <a:ext cx="382219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818120" y="5074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Documentação PDF para download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10561320" y="50749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Recomendada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818120" y="5404104"/>
            <a:ext cx="382219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818120" y="5440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Pesquisa e filtros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0561320" y="544068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Se justificado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7818120" y="585216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Âmbito final de cada funcionalidade a confirmar na proposta comercial.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TRÊS PÚBLICOS, TRÊS EXPERIÊNCIAS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Uma comunicação direcionada a quem decide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12344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9456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1762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Cliente institucional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4871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5FA8"/>
                </a:solidFill>
              </a:rPr>
              <a:t>ACAIL Angola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087368" y="2304288"/>
            <a:ext cx="5815584" cy="0"/>
          </a:xfrm>
          <a:prstGeom prst="line">
            <a:avLst/>
          </a:prstGeom>
          <a:noFill/>
          <a:ln w="15875">
            <a:solidFill>
              <a:srgbClr val="1F5F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77640" y="219456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77640" y="25237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Conhece a ACAIL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916168" y="219456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16168" y="25237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Explora as áreas de atividade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54696" y="219456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854696" y="25237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Consulta projetos de referência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793224" y="2194560"/>
            <a:ext cx="219456" cy="219456"/>
          </a:xfrm>
          <a:prstGeom prst="ellipse">
            <a:avLst/>
          </a:prstGeom>
          <a:solidFill>
            <a:srgbClr val="1F5FA8"/>
          </a:solidFill>
          <a:ln w="19050">
            <a:solidFill>
              <a:srgbClr val="1F5FA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793224" y="252374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F5FA8"/>
                </a:solidFill>
              </a:rPr>
              <a:t>Entra em contacto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337560"/>
            <a:ext cx="11094415" cy="12344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11880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1371600" y="3593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Comprador industrial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1371600" y="3904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0662B"/>
                </a:solidFill>
              </a:rPr>
              <a:t>ACAIL Gás Solucions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087368" y="3721608"/>
            <a:ext cx="5815584" cy="0"/>
          </a:xfrm>
          <a:prstGeom prst="line">
            <a:avLst/>
          </a:prstGeom>
          <a:noFill/>
          <a:ln w="15875">
            <a:solidFill>
              <a:srgbClr val="E0662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977640" y="361188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E0662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977640" y="39410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Identifica uma necessidade de gases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916168" y="361188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E0662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916168" y="39410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Consulta aplicações e soluções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7854696" y="361188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E0662B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7854696" y="39410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Compara opções com a equipa técnica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9793224" y="3611880"/>
            <a:ext cx="219456" cy="219456"/>
          </a:xfrm>
          <a:prstGeom prst="ellipse">
            <a:avLst/>
          </a:prstGeom>
          <a:solidFill>
            <a:srgbClr val="E0662B"/>
          </a:solidFill>
          <a:ln w="19050">
            <a:solidFill>
              <a:srgbClr val="E0662B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793224" y="394106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E0662B"/>
                </a:solidFill>
              </a:rPr>
              <a:t>Pede informação técnica ou comercial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548640" y="4754880"/>
            <a:ext cx="11094415" cy="123444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0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371600" y="5010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Engenheiro ou empreiteiro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1371600" y="5321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A6D3B"/>
                </a:solidFill>
              </a:rPr>
              <a:t>ACAIL Pré-Fabricados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4087368" y="5138928"/>
            <a:ext cx="5815584" cy="0"/>
          </a:xfrm>
          <a:prstGeom prst="line">
            <a:avLst/>
          </a:prstGeom>
          <a:noFill/>
          <a:ln w="15875">
            <a:solidFill>
              <a:srgbClr val="8A6D3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3977640" y="502920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3977640" y="53583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Procura um pré-fabricado</a:t>
            </a:r>
            <a:endParaRPr lang="en-US" sz="1150" dirty="0"/>
          </a:p>
        </p:txBody>
      </p:sp>
      <p:sp>
        <p:nvSpPr>
          <p:cNvPr id="37" name="Shape 32"/>
          <p:cNvSpPr/>
          <p:nvPr/>
        </p:nvSpPr>
        <p:spPr>
          <a:xfrm>
            <a:off x="5916168" y="502920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916168" y="53583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Consulta especificações</a:t>
            </a:r>
            <a:endParaRPr lang="en-US" sz="1150" dirty="0"/>
          </a:p>
        </p:txBody>
      </p:sp>
      <p:sp>
        <p:nvSpPr>
          <p:cNvPr id="39" name="Shape 34"/>
          <p:cNvSpPr/>
          <p:nvPr/>
        </p:nvSpPr>
        <p:spPr>
          <a:xfrm>
            <a:off x="7854696" y="502920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7854696" y="53583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Descarrega a documentação</a:t>
            </a:r>
            <a:endParaRPr lang="en-US" sz="1150" dirty="0"/>
          </a:p>
        </p:txBody>
      </p:sp>
      <p:sp>
        <p:nvSpPr>
          <p:cNvPr id="41" name="Shape 36"/>
          <p:cNvSpPr/>
          <p:nvPr/>
        </p:nvSpPr>
        <p:spPr>
          <a:xfrm>
            <a:off x="9793224" y="5029200"/>
            <a:ext cx="219456" cy="219456"/>
          </a:xfrm>
          <a:prstGeom prst="ellipse">
            <a:avLst/>
          </a:prstGeom>
          <a:solidFill>
            <a:srgbClr val="8A6D3B"/>
          </a:solidFill>
          <a:ln w="19050">
            <a:solidFill>
              <a:srgbClr val="8A6D3B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9793224" y="5358384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8A6D3B"/>
                </a:solidFill>
              </a:rPr>
              <a:t>Pede orçamento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548640" y="61722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Percursos de exemplo, a validar com as equipas comerciais de cada operação no Discovery.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DIREÇÃO CRIATIVA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Uma experiência premium, construída sobre a identidade ACAIL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PALETA DO ECOSSISTEMA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261872" cy="91440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182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Grafite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01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Base do grupo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20240" y="2194560"/>
            <a:ext cx="1261872" cy="914400"/>
          </a:xfrm>
          <a:prstGeom prst="rect">
            <a:avLst/>
          </a:prstGeom>
          <a:solidFill>
            <a:srgbClr val="1F5FA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20240" y="3182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ACAIL Angola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401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Institucional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1261872" cy="914400"/>
          </a:xfrm>
          <a:prstGeom prst="rect">
            <a:avLst/>
          </a:prstGeom>
          <a:solidFill>
            <a:srgbClr val="E066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3182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ACAIL Gás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401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Acento técnico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1261872" cy="914400"/>
          </a:xfrm>
          <a:prstGeom prst="rect">
            <a:avLst/>
          </a:prstGeom>
          <a:solidFill>
            <a:srgbClr val="A39A8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318211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Pré-Fabricados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40156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Betão e produto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7588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Cores provisórias. Serão substituídas pelos códigos oficiais validados de cada marca.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069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TIPOGRAFIA E COMPONENTES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34340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spc="-200" kern="0" dirty="0">
                <a:solidFill>
                  <a:schemeClr val="tx1"/>
                </a:solidFill>
              </a:rPr>
              <a:t>Aa</a:t>
            </a:r>
            <a:endParaRPr lang="en-US" sz="48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389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Títulos firmes, texto legível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Família sem serifa contemporânea, com hierarquia clara e boa leitura em ecrãs pequenos.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4407408"/>
            <a:ext cx="173736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0624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Pedir informação  →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4882896"/>
            <a:ext cx="1737360" cy="384048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48828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Ficha técnica  ↓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394960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5394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Postes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417320" y="5394960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417320" y="5394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Blocos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0" y="5394960"/>
            <a:ext cx="77724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286000" y="53949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Tubos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91840" y="5394960"/>
            <a:ext cx="2651760" cy="292608"/>
          </a:xfrm>
          <a:prstGeom prst="rect">
            <a:avLst/>
          </a:prstGeom>
          <a:solidFill>
            <a:schemeClr val="bg1"/>
          </a:solidFill>
          <a:ln w="9525">
            <a:solidFill>
              <a:srgbClr val="DCE1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383280" y="53949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Pesquisar produto ou aplicação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1874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PRINCÍPIOS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55080" y="2212848"/>
            <a:ext cx="25146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22860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Identidade corporativa preservada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355080" y="2761488"/>
            <a:ext cx="25146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55080" y="28346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Consistência entre os três websites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355080" y="3310128"/>
            <a:ext cx="25146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55080" y="33832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Design responsivo e mobile-first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355080" y="3858768"/>
            <a:ext cx="25146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393192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Fotografia industrial real da ACAIL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355080" y="4407408"/>
            <a:ext cx="25146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55080" y="44805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Navegação intuitiva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55080" y="4956048"/>
            <a:ext cx="25146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55080" y="5029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Acessibilidade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355080" y="5504688"/>
            <a:ext cx="25146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55080" y="55778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Clareza da informação técnica</a:t>
            </a:r>
            <a:endParaRPr lang="en-US" sz="1150" dirty="0"/>
          </a:p>
        </p:txBody>
      </p:sp>
      <p:pic>
        <p:nvPicPr>
          <p:cNvPr id="48" name="Image 0" descr="Mockup conceptual mobile do website ACAIL Gás Soluc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0" y="1828800"/>
            <a:ext cx="2112264" cy="4334256"/>
          </a:xfrm>
          <a:prstGeom prst="rect">
            <a:avLst/>
          </a:prstGeom>
        </p:spPr>
      </p:pic>
      <p:sp>
        <p:nvSpPr>
          <p:cNvPr id="49" name="Text 46"/>
          <p:cNvSpPr txBox="1"/>
          <p:nvPr/>
        </p:nvSpPr>
        <p:spPr>
          <a:xfrm>
            <a:off x="9098280" y="6199632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Conceito mobile — não aprovado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5"/>
                </a:solidFill>
              </a:rPr>
              <a:t>PONTOS DE CONTACTO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Transformar interesse em oportunidades de negócio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ONDE COMEÇA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383280" cy="49377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22576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97280" y="219456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Pedido de informações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798064"/>
            <a:ext cx="3383280" cy="49377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92608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798064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Solicitação de orçamento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401568"/>
            <a:ext cx="3383280" cy="49377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295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3401568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Contacto sobre produtos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48640" y="4005072"/>
            <a:ext cx="3383280" cy="49377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413308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97280" y="4005072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Pedido de documentação técnica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548640" y="4608576"/>
            <a:ext cx="3383280" cy="49377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736592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97280" y="4608576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Contacto institucional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548640" y="5212080"/>
            <a:ext cx="3383280" cy="493776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534009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97280" y="521208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bg1"/>
                </a:solidFill>
              </a:rPr>
              <a:t>WhatsApp empresarial (se aprovado)</a:t>
            </a:r>
            <a:endParaRPr lang="en-US" sz="1150" dirty="0"/>
          </a:p>
        </p:txBody>
      </p:sp>
      <p:sp>
        <p:nvSpPr>
          <p:cNvPr id="23" name="Shape 15"/>
          <p:cNvSpPr/>
          <p:nvPr/>
        </p:nvSpPr>
        <p:spPr>
          <a:xfrm>
            <a:off x="3931920" y="2441448"/>
            <a:ext cx="685800" cy="1481328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3931920" y="3044952"/>
            <a:ext cx="685800" cy="877824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3931920" y="3648456"/>
            <a:ext cx="685800" cy="274320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 flipV="1">
            <a:off x="3931920" y="3922776"/>
            <a:ext cx="685800" cy="329184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 flipV="1">
            <a:off x="3931920" y="3922776"/>
            <a:ext cx="685800" cy="932688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 flipV="1">
            <a:off x="3931920" y="3922776"/>
            <a:ext cx="685800" cy="1536192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4617720" y="2971800"/>
            <a:ext cx="2834640" cy="19202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154680"/>
            <a:ext cx="329184" cy="329184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846320" y="36118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Formulário estruturado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chemeClr val="bg1"/>
                </a:solidFill>
              </a:rPr>
              <a:t>Recolhe a informação de que a equipa precisa — área, produto, quantidade, prazo — e encaminha para o departamento competente.</a:t>
            </a:r>
            <a:endParaRPr lang="en-US" sz="1400" dirty="0"/>
          </a:p>
        </p:txBody>
      </p:sp>
      <p:sp>
        <p:nvSpPr>
          <p:cNvPr id="32" name="Text 23"/>
          <p:cNvSpPr txBox="1"/>
          <p:nvPr/>
        </p:nvSpPr>
        <p:spPr>
          <a:xfrm>
            <a:off x="82296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ONDE CHEGA</a:t>
            </a:r>
            <a:endParaRPr lang="en-US" sz="900" dirty="0"/>
          </a:p>
        </p:txBody>
      </p:sp>
      <p:sp>
        <p:nvSpPr>
          <p:cNvPr id="33" name="Shape 24"/>
          <p:cNvSpPr/>
          <p:nvPr/>
        </p:nvSpPr>
        <p:spPr>
          <a:xfrm flipV="1">
            <a:off x="7452360" y="2788920"/>
            <a:ext cx="777240" cy="1143000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8229600" y="2514600"/>
            <a:ext cx="3410712" cy="548640"/>
          </a:xfrm>
          <a:prstGeom prst="rect">
            <a:avLst/>
          </a:prstGeom>
          <a:ln w="12700">
            <a:solidFill>
              <a:srgbClr val="263545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841248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Comercial · Gases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 flipV="1">
            <a:off x="7452360" y="3566160"/>
            <a:ext cx="777240" cy="365760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8229600" y="3291840"/>
            <a:ext cx="3410712" cy="548640"/>
          </a:xfrm>
          <a:prstGeom prst="rect">
            <a:avLst/>
          </a:prstGeom>
          <a:ln w="12700">
            <a:solidFill>
              <a:srgbClr val="263545"/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841248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Saúde · Gases medicinais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7452360" y="3931920"/>
            <a:ext cx="777240" cy="411480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8229600" y="4069080"/>
            <a:ext cx="3410712" cy="548640"/>
          </a:xfrm>
          <a:prstGeom prst="rect">
            <a:avLst/>
          </a:prstGeom>
          <a:ln w="12700">
            <a:solidFill>
              <a:srgbClr val="263545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84124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Comercial · Pré-fabricados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7452360" y="3931920"/>
            <a:ext cx="777240" cy="1188720"/>
          </a:xfrm>
          <a:prstGeom prst="line">
            <a:avLst/>
          </a:prstGeom>
          <a:noFill/>
          <a:ln w="12700">
            <a:solidFill>
              <a:srgbClr val="263545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8229600" y="4846320"/>
            <a:ext cx="3410712" cy="548640"/>
          </a:xfrm>
          <a:prstGeom prst="rect">
            <a:avLst/>
          </a:prstGeom>
          <a:ln w="12700">
            <a:solidFill>
              <a:srgbClr val="263545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8412480" y="4846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Geral · Institucional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8229600" y="5669280"/>
            <a:ext cx="3410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A9B4BF"/>
                </a:solidFill>
              </a:rPr>
              <a:t>Departamentos e regras de encaminhamento a definir com a ACAIL. Não apresentamos projeções de conversão: os indicadores serão definidos após o lançamento, com dados reais.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TECNOLOGIA E ENGENHARIA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Uma base tecnológica sólida, preparada para evoluir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035040" cy="566928"/>
          </a:xfrm>
          <a:prstGeom prst="rect">
            <a:avLst/>
          </a:prstGeom>
          <a:solidFill>
            <a:schemeClr val="bg2"/>
          </a:solidFill>
          <a:ln w="9525">
            <a:solidFill>
              <a:srgbClr val="DCE1E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075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Visitantes · computador, tablet e telemóvel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15768"/>
            <a:ext cx="6035040" cy="804672"/>
          </a:xfrm>
          <a:prstGeom prst="rect">
            <a:avLst/>
          </a:prstGeom>
          <a:solidFill>
            <a:schemeClr val="bg2"/>
          </a:solidFill>
          <a:ln w="9525">
            <a:solidFill>
              <a:srgbClr val="DCE1E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9864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15568" y="287121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Publicação e distribuição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26440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Vercel ou infraestrutura equivalente · HTTPS · CDN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3749040"/>
            <a:ext cx="603504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3152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</a:rPr>
              <a:t>Aplicação web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31520" y="4251960"/>
            <a:ext cx="1353312" cy="38404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31520" y="42519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Next.js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194560" y="4251960"/>
            <a:ext cx="1353312" cy="38404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2194560" y="42519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React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0" y="4251960"/>
            <a:ext cx="1353312" cy="38404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657600" y="42519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TypeScript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120640" y="4251960"/>
            <a:ext cx="1353312" cy="38404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5120640" y="425196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48640" y="5029200"/>
            <a:ext cx="1920240" cy="822960"/>
          </a:xfrm>
          <a:prstGeom prst="rect">
            <a:avLst/>
          </a:prstGeom>
          <a:solidFill>
            <a:schemeClr val="bg2"/>
          </a:solidFill>
          <a:ln w="9525">
            <a:solidFill>
              <a:srgbClr val="DCE1E6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521208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115568" y="5184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CMS</a:t>
            </a:r>
            <a:endParaRPr lang="en-US" sz="1250" dirty="0"/>
          </a:p>
        </p:txBody>
      </p:sp>
      <p:sp>
        <p:nvSpPr>
          <p:cNvPr id="24" name="Text 19"/>
          <p:cNvSpPr txBox="1"/>
          <p:nvPr/>
        </p:nvSpPr>
        <p:spPr>
          <a:xfrm>
            <a:off x="731520" y="5577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Conteúdos e catálogos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606040" y="5029200"/>
            <a:ext cx="1920240" cy="822960"/>
          </a:xfrm>
          <a:prstGeom prst="rect">
            <a:avLst/>
          </a:prstGeom>
          <a:solidFill>
            <a:schemeClr val="bg2"/>
          </a:solidFill>
          <a:ln w="9525">
            <a:solidFill>
              <a:srgbClr val="DCE1E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521208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3172968" y="5184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Formulários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2788920" y="5577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Envio por email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663440" y="5029200"/>
            <a:ext cx="1920240" cy="822960"/>
          </a:xfrm>
          <a:prstGeom prst="rect">
            <a:avLst/>
          </a:prstGeom>
          <a:solidFill>
            <a:schemeClr val="bg2"/>
          </a:solidFill>
          <a:ln w="9525">
            <a:solidFill>
              <a:srgbClr val="DCE1E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521208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230368" y="51846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Analytics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4846320" y="55778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Com consentimento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566160" y="2487168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566160" y="352044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566160" y="4800600"/>
            <a:ext cx="0" cy="22860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548640" y="5961888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chemeClr val="accent6"/>
                </a:solidFill>
              </a:rPr>
              <a:t>Tecnologias de referência, sujeitas a análise e aprovação no Discovery.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708660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O QUE ISTO SIGNIFICA PARA A ACAIL</a:t>
            </a:r>
            <a:endParaRPr lang="en-US" sz="9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2313432"/>
            <a:ext cx="274320" cy="27432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754380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Desempenho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7543800" y="25786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Páginas leves, pensadas também para redes móveis.</a:t>
            </a:r>
            <a:endParaRPr lang="en-US" sz="11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08152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543800" y="3054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Segurança</a:t>
            </a:r>
            <a:endParaRPr lang="en-US" sz="1300" dirty="0"/>
          </a:p>
        </p:txBody>
      </p:sp>
      <p:sp>
        <p:nvSpPr>
          <p:cNvPr id="43" name="Text 34"/>
          <p:cNvSpPr txBox="1"/>
          <p:nvPr/>
        </p:nvSpPr>
        <p:spPr>
          <a:xfrm>
            <a:off x="7543800" y="33467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Ligações cifradas, dependências atualizadas, boas práticas de configuração.</a:t>
            </a:r>
            <a:endParaRPr lang="en-US" sz="11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3849624"/>
            <a:ext cx="274320" cy="27432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543800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SEO técnico</a:t>
            </a:r>
            <a:endParaRPr lang="en-US" sz="1300" dirty="0"/>
          </a:p>
        </p:txBody>
      </p:sp>
      <p:sp>
        <p:nvSpPr>
          <p:cNvPr id="46" name="Text 36"/>
          <p:cNvSpPr txBox="1"/>
          <p:nvPr/>
        </p:nvSpPr>
        <p:spPr>
          <a:xfrm>
            <a:off x="7543800" y="41148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Estrutura, metadados e URLs claros para os motores de pesquisa.</a:t>
            </a:r>
            <a:endParaRPr lang="en-US" sz="1100" dirty="0"/>
          </a:p>
        </p:txBody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86600" y="4617720"/>
            <a:ext cx="274320" cy="27432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543800" y="45902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Responsividade e acessibilidade</a:t>
            </a:r>
            <a:endParaRPr lang="en-US" sz="1300" dirty="0"/>
          </a:p>
        </p:txBody>
      </p:sp>
      <p:sp>
        <p:nvSpPr>
          <p:cNvPr id="49" name="Text 38"/>
          <p:cNvSpPr txBox="1"/>
          <p:nvPr/>
        </p:nvSpPr>
        <p:spPr>
          <a:xfrm>
            <a:off x="7543800" y="488289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Leitura confortável em qualquer ecrã e para mais utilizadores.</a:t>
            </a:r>
            <a:endParaRPr lang="en-US" sz="110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5385816"/>
            <a:ext cx="274320" cy="274320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543800" y="53583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Manutenção e controlo de versões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7543800" y="56509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Código organizado e histórico de alterações; evolução sem recomeçar do zero.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GESTÃO DE CONTEÚDOS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Informação organizada. Conteúdos preparados para crescer.</a:t>
            </a:r>
            <a:endParaRPr lang="en-US" sz="2800" dirty="0"/>
          </a:p>
        </p:txBody>
      </p:sp>
      <p:graphicFrame>
        <p:nvGraphicFramePr>
          <p:cNvPr id="15" name="Matriz de conteú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7680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2697480"/>
                <a:gridCol w="1234440"/>
                <a:gridCol w="14173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50" kern="0" dirty="0">
                          <a:solidFill>
                            <a:schemeClr val="accent6"/>
                          </a:solidFill>
                        </a:rPr>
                        <a:t>TIPO DE CONTEÚDO</a:t>
                      </a:r>
                      <a:endParaRPr lang="en-US" sz="9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A15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50" kern="0" dirty="0">
                          <a:solidFill>
                            <a:schemeClr val="accent6"/>
                          </a:solidFill>
                        </a:rPr>
                        <a:t>EXEMPLOS</a:t>
                      </a:r>
                      <a:endParaRPr lang="en-US" sz="9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A15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spc="150" kern="0" dirty="0">
                          <a:solidFill>
                            <a:schemeClr val="accent6"/>
                          </a:solidFill>
                        </a:rPr>
                        <a:t>FREQUÊNCIA PREVISTA</a:t>
                      </a:r>
                      <a:endParaRPr lang="en-US" sz="9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A15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50" kern="0" dirty="0">
                          <a:solidFill>
                            <a:schemeClr val="accent6"/>
                          </a:solidFill>
                        </a:rPr>
                        <a:t>GESTÃO PROPOSTA</a:t>
                      </a:r>
                      <a:endParaRPr lang="en-US" sz="9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0A15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Conteúdos institucionais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História, missão, instalações, compromissos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300" kern="0" dirty="0">
                          <a:solidFill>
                            <a:schemeClr val="accent1"/>
                          </a:solidFill>
                        </a:rPr>
                        <a:t>●○○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Estrutura fixa, textos editáveis</a:t>
                      </a:r>
                      <a:endParaRPr lang="en-US" sz="11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Catálogos de produtos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Categorias, produtos e aplicações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300" kern="0" dirty="0">
                          <a:solidFill>
                            <a:schemeClr val="accent1"/>
                          </a:solidFill>
                        </a:rPr>
                        <a:t>●●○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CMS recomendado</a:t>
                      </a:r>
                      <a:endParaRPr lang="en-US" sz="11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Fichas técnicas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Características e especificações estruturadas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300" kern="0" dirty="0">
                          <a:solidFill>
                            <a:schemeClr val="accent1"/>
                          </a:solidFill>
                        </a:rPr>
                        <a:t>●●○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CMS recomendado</a:t>
                      </a:r>
                      <a:endParaRPr lang="en-US" sz="11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Fotografias e documentação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Imagens, PDF e catálogos para download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300" kern="0" dirty="0">
                          <a:solidFill>
                            <a:schemeClr val="accent1"/>
                          </a:solidFill>
                        </a:rPr>
                        <a:t>●●○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Biblioteca de média no CMS</a:t>
                      </a:r>
                      <a:endParaRPr lang="en-US" sz="11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Notícias e atualizações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Novidades, eventos, comunicados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300" kern="0" dirty="0">
                          <a:solidFill>
                            <a:schemeClr val="accent1"/>
                          </a:solidFill>
                        </a:rPr>
                        <a:t>●●●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CMS recomendado</a:t>
                      </a:r>
                      <a:endParaRPr lang="en-US" sz="11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Contactos por área de negócio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Departamentos, emails, encaminhamento</a:t>
                      </a:r>
                      <a:endParaRPr lang="en-US" sz="11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spc="300" kern="0" dirty="0">
                          <a:solidFill>
                            <a:schemeClr val="accent1"/>
                          </a:solidFill>
                        </a:rPr>
                        <a:t>●○○</a:t>
                      </a:r>
                      <a:endParaRPr lang="en-US" sz="120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Configuração centralizada</a:t>
                      </a:r>
                      <a:endParaRPr lang="en-US" sz="1150" dirty="0"/>
                    </a:p>
                  </a:txBody>
                  <a:tcPr marL="0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6"/>
                </a:solidFill>
              </a:rPr>
              <a:t>●○○ baixa   ●●○ média   ●●● alta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595360" y="1920240"/>
            <a:ext cx="3044952" cy="40233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8823960" y="2148840"/>
            <a:ext cx="260604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DIMENSIONADO À REALIDADE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Autonomia onde ela é útil.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A9B4BF"/>
                </a:solidFill>
              </a:rPr>
              <a:t>Propomos um CMS para as secções que mudam com frequência. O restante mantém-se estável e protegido.</a:t>
            </a:r>
            <a:endParaRPr lang="en-US" sz="14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A9B4BF"/>
                </a:solidFill>
              </a:rPr>
              <a:t>A solução final depende da utilização real e da capacidade da equipa ACAIL para gerir conteúdos — e inclui formação, se contratada.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5"/>
                </a:solidFill>
              </a:rPr>
              <a:t>METODOLOGIA DE EXECUÇÃO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Um processo estruturado, do diagnóstico ao lançamento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76656" y="2331720"/>
            <a:ext cx="10820095" cy="0"/>
          </a:xfrm>
          <a:prstGeom prst="line">
            <a:avLst/>
          </a:prstGeom>
          <a:noFill/>
          <a:ln w="19050">
            <a:solidFill>
              <a:srgbClr val="2635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03704"/>
            <a:ext cx="256032" cy="256032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bg1"/>
                </a:solidFill>
              </a:rPr>
              <a:t>Discovery e alinhamento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6204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BF"/>
                </a:solidFill>
              </a:rPr>
              <a:t>Necessidades, públicos, objetivos e materiais existentes.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620469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50292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150" kern="0" dirty="0">
                <a:solidFill>
                  <a:srgbClr val="A9B4BF"/>
                </a:solidFill>
              </a:rPr>
              <a:t>ENTREGÁVEL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Documento de requisitos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97709" y="220370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97709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2397709" y="32004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bg1"/>
                </a:solidFill>
              </a:rPr>
              <a:t>Estratégia e arquitetura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397709" y="3794760"/>
            <a:ext cx="16204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BF"/>
                </a:solidFill>
              </a:rPr>
              <a:t>Conteúdos, estrutura de navegação e jornadas dos utilizadores.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97709" y="4937760"/>
            <a:ext cx="1620469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97709" y="50292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150" kern="0" dirty="0">
                <a:solidFill>
                  <a:srgbClr val="A9B4BF"/>
                </a:solidFill>
              </a:rPr>
              <a:t>ENTREGÁVEL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Mapa dos websites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46778" y="220370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46778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4246778" y="32004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bg1"/>
                </a:solidFill>
              </a:rPr>
              <a:t>UX/UI Design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246778" y="3794760"/>
            <a:ext cx="16204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BF"/>
                </a:solidFill>
              </a:rPr>
              <a:t>Wireframes, identidade digital e protótipos.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46778" y="4937760"/>
            <a:ext cx="1620469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46778" y="50292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150" kern="0" dirty="0">
                <a:solidFill>
                  <a:srgbClr val="A9B4BF"/>
                </a:solidFill>
              </a:rPr>
              <a:t>ENTREGÁVEL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Protótipos aprovados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46778" y="1810512"/>
            <a:ext cx="1417320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46778" y="18105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Aprovação ACAIL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95848" y="220370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95848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04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6095848" y="32004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bg1"/>
                </a:solidFill>
              </a:rPr>
              <a:t>Desenvolvimento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095848" y="3794760"/>
            <a:ext cx="16204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BF"/>
                </a:solidFill>
              </a:rPr>
              <a:t>Implementação técnica e funcionalidades contratadas.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95848" y="4937760"/>
            <a:ext cx="1620469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95848" y="50292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150" kern="0" dirty="0">
                <a:solidFill>
                  <a:srgbClr val="A9B4BF"/>
                </a:solidFill>
              </a:rPr>
              <a:t>ENTREGÁVEL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Ambiente de testes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944917" y="220370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44917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05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944917" y="32004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bg1"/>
                </a:solidFill>
              </a:rPr>
              <a:t>Testes e validação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944917" y="3794760"/>
            <a:ext cx="16204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BF"/>
                </a:solidFill>
              </a:rPr>
              <a:t>Funcionalidade, conteúdos, responsividade e aceitação.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44917" y="4937760"/>
            <a:ext cx="1620469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944917" y="50292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150" kern="0" dirty="0">
                <a:solidFill>
                  <a:srgbClr val="A9B4BF"/>
                </a:solidFill>
              </a:rPr>
              <a:t>ENTREGÁVEL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Relatório de validação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944917" y="1810512"/>
            <a:ext cx="1417320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44917" y="18105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Aprovação ACAIL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793986" y="2203704"/>
            <a:ext cx="256032" cy="256032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93986" y="26974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06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793986" y="32004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bg1"/>
                </a:solidFill>
              </a:rPr>
              <a:t>Publicação e entrega</a:t>
            </a:r>
            <a:endParaRPr lang="en-US" sz="1350" dirty="0"/>
          </a:p>
        </p:txBody>
      </p:sp>
      <p:sp>
        <p:nvSpPr>
          <p:cNvPr id="42" name="Text 40"/>
          <p:cNvSpPr txBox="1"/>
          <p:nvPr/>
        </p:nvSpPr>
        <p:spPr>
          <a:xfrm>
            <a:off x="9793986" y="3794760"/>
            <a:ext cx="162046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9B4BF"/>
                </a:solidFill>
              </a:rPr>
              <a:t>Produção, entrada em funcionamento, documentação e passagem de conhecimento.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793986" y="4937760"/>
            <a:ext cx="1620469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793986" y="5029200"/>
            <a:ext cx="16661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b="1" spc="150" kern="0" dirty="0">
                <a:solidFill>
                  <a:srgbClr val="A9B4BF"/>
                </a:solidFill>
              </a:rPr>
              <a:t>ENTREGÁVEL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chemeClr val="bg1"/>
                </a:solidFill>
              </a:rPr>
              <a:t>Websites em produção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9793986" y="1810512"/>
            <a:ext cx="1417320" cy="246888"/>
          </a:xfrm>
          <a:prstGeom prst="roundRect">
            <a:avLst>
              <a:gd name="adj" fmla="val 4814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793986" y="1810512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Aprovação ACAIL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77240" y="57607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Calendarização detalhada: a definir após confirmação do âmbito e dos conteúdos disponíveis.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QUALIDADE E GARANTIA DE ENTREGA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Qualidade em cada detalhe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221992"/>
            <a:ext cx="182880" cy="182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Revisão da experiência de utilização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2898648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971800"/>
            <a:ext cx="182880" cy="1828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156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Compatibilidade com diferentes dispositivos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465576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48640" y="3648456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721608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51560" y="36027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Testes dos formulários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4215384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548640" y="4398264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71416"/>
            <a:ext cx="182880" cy="1828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51560" y="435254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Validação de links e navegação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965192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48640" y="5148072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221224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51560" y="51023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Verificação de conteúdos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977640" y="1965960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977640" y="2148840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0792" y="2221992"/>
            <a:ext cx="182880" cy="18288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480560" y="21031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SEO técnico essencial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3977640" y="2715768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3977640" y="2898648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0792" y="2971800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480560" y="2852928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Segurança e configurações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3977640" y="3465576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3977640" y="3648456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0792" y="3721608"/>
            <a:ext cx="182880" cy="18288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4480560" y="3602736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Testes de desempenho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3977640" y="4215384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3977640" y="4398264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0792" y="4471416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4480560" y="4352544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Aprovação antes da publicação</a:t>
            </a:r>
            <a:endParaRPr lang="en-US" sz="1250" dirty="0"/>
          </a:p>
        </p:txBody>
      </p:sp>
      <p:sp>
        <p:nvSpPr>
          <p:cNvPr id="40" name="Shape 29"/>
          <p:cNvSpPr/>
          <p:nvPr/>
        </p:nvSpPr>
        <p:spPr>
          <a:xfrm>
            <a:off x="3977640" y="4965192"/>
            <a:ext cx="320040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3977640" y="5148072"/>
            <a:ext cx="329184" cy="329184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0792" y="5221224"/>
            <a:ext cx="182880" cy="18288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4480560" y="5102352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Documentação e formação, se incluídas</a:t>
            </a:r>
            <a:endParaRPr lang="en-US" sz="1250" dirty="0"/>
          </a:p>
        </p:txBody>
      </p:sp>
      <p:sp>
        <p:nvSpPr>
          <p:cNvPr id="44" name="Shape 32"/>
          <p:cNvSpPr/>
          <p:nvPr/>
        </p:nvSpPr>
        <p:spPr>
          <a:xfrm>
            <a:off x="7680960" y="1965960"/>
            <a:ext cx="3959352" cy="40690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5" name="Text 33"/>
          <p:cNvSpPr txBox="1"/>
          <p:nvPr/>
        </p:nvSpPr>
        <p:spPr>
          <a:xfrm>
            <a:off x="795528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CRITÉRIOS DE ACEITAÇÃO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795528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Cada website é aceite quando:</a:t>
            </a:r>
            <a:endParaRPr lang="en-US" sz="1500" dirty="0"/>
          </a:p>
        </p:txBody>
      </p:sp>
      <p:sp>
        <p:nvSpPr>
          <p:cNvPr id="47" name="Text 35"/>
          <p:cNvSpPr txBox="1"/>
          <p:nvPr/>
        </p:nvSpPr>
        <p:spPr>
          <a:xfrm>
            <a:off x="795528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Text 36"/>
          <p:cNvSpPr txBox="1"/>
          <p:nvPr/>
        </p:nvSpPr>
        <p:spPr>
          <a:xfrm>
            <a:off x="8275320" y="301752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As páginas e funcionalidades acordadas estão implementadas.</a:t>
            </a:r>
            <a:endParaRPr lang="en-US" sz="1150" dirty="0"/>
          </a:p>
        </p:txBody>
      </p:sp>
      <p:sp>
        <p:nvSpPr>
          <p:cNvPr id="49" name="Text 37"/>
          <p:cNvSpPr txBox="1"/>
          <p:nvPr/>
        </p:nvSpPr>
        <p:spPr>
          <a:xfrm>
            <a:off x="795528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Text 38"/>
          <p:cNvSpPr txBox="1"/>
          <p:nvPr/>
        </p:nvSpPr>
        <p:spPr>
          <a:xfrm>
            <a:off x="8275320" y="365760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Os conteúdos aprovados pela ACAIL estão publicados e revistos.</a:t>
            </a:r>
            <a:endParaRPr lang="en-US" sz="1150" dirty="0"/>
          </a:p>
        </p:txBody>
      </p:sp>
      <p:sp>
        <p:nvSpPr>
          <p:cNvPr id="51" name="Text 39"/>
          <p:cNvSpPr txBox="1"/>
          <p:nvPr/>
        </p:nvSpPr>
        <p:spPr>
          <a:xfrm>
            <a:off x="7955280" y="4297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3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8275320" y="42976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Os formulários entregam os pedidos aos destinatários definidos.</a:t>
            </a:r>
            <a:endParaRPr lang="en-US" sz="1150" dirty="0"/>
          </a:p>
        </p:txBody>
      </p:sp>
      <p:sp>
        <p:nvSpPr>
          <p:cNvPr id="53" name="Text 41"/>
          <p:cNvSpPr txBox="1"/>
          <p:nvPr/>
        </p:nvSpPr>
        <p:spPr>
          <a:xfrm>
            <a:off x="795528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</a:t>
            </a:r>
            <a:endParaRPr lang="en-US" sz="1200" dirty="0"/>
          </a:p>
        </p:txBody>
      </p:sp>
      <p:sp>
        <p:nvSpPr>
          <p:cNvPr id="54" name="Text 42"/>
          <p:cNvSpPr txBox="1"/>
          <p:nvPr/>
        </p:nvSpPr>
        <p:spPr>
          <a:xfrm>
            <a:off x="8275320" y="493776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A navegação foi verificada nos dispositivos e navegadores acordados.</a:t>
            </a:r>
            <a:endParaRPr lang="en-US" sz="1150" dirty="0"/>
          </a:p>
        </p:txBody>
      </p:sp>
      <p:sp>
        <p:nvSpPr>
          <p:cNvPr id="55" name="Text 43"/>
          <p:cNvSpPr txBox="1"/>
          <p:nvPr/>
        </p:nvSpPr>
        <p:spPr>
          <a:xfrm>
            <a:off x="7955280" y="5596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Os critérios finais e os níveis técnicos de referência são fixados em contrato.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ACOMPANHAMENTO E EVOLUÇÃO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Uma parceria que continua depois do lançamento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57600" cy="41148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5"/>
                </a:solidFill>
              </a:rPr>
              <a:t>NO PROJETO INICIAL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23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Entrega completa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044952"/>
            <a:ext cx="201168" cy="2011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70432" y="299008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Configuração de produção e publicação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666744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70432" y="36118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Documentação técnica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8853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70432" y="423367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Passagem de conhecimento à equipa ACAIL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91032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70432" y="48554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Correção de não conformidades detetadas na aceitação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822960" y="5623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A9B4BF"/>
                </a:solidFill>
              </a:rPr>
              <a:t>Âmbito exato a confirmar em contrato.</a:t>
            </a:r>
            <a:endParaRPr lang="en-US" sz="950" dirty="0"/>
          </a:p>
        </p:txBody>
      </p:sp>
      <p:sp>
        <p:nvSpPr>
          <p:cNvPr id="16" name="Text 10"/>
          <p:cNvSpPr txBox="1"/>
          <p:nvPr/>
        </p:nvSpPr>
        <p:spPr>
          <a:xfrm>
            <a:off x="4572000" y="1920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SERVIÇOS RECORRENTES OPCIONAIS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4572000" y="228600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5720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Manutenção técnica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Funcionamento estável no dia a dia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8138160" y="228600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13816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Atualização de dependências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8138160" y="2651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Componentes de software atualizados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572000" y="301752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457200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Monitorização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Deteção atempada de anomalias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38160" y="301752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13816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Cópias de segurança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813816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Recuperação de conteúdos e configurações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572000" y="374904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57200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Correção de problemas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457200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Resolução de erros reportados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8138160" y="374904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138160" y="3840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Gestão de conteúdos</a:t>
            </a:r>
            <a:endParaRPr lang="en-US" sz="1250" dirty="0"/>
          </a:p>
        </p:txBody>
      </p:sp>
      <p:sp>
        <p:nvSpPr>
          <p:cNvPr id="34" name="Text 28"/>
          <p:cNvSpPr txBox="1"/>
          <p:nvPr/>
        </p:nvSpPr>
        <p:spPr>
          <a:xfrm>
            <a:off x="813816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Publicação feita pela Smarty Squad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4572000" y="448056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457200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Melhorias evolutivas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457200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Ajustes a partir da utilização real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8138160" y="448056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8138160" y="4572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Otimização de desempenho</a:t>
            </a:r>
            <a:endParaRPr lang="en-US" sz="1250" dirty="0"/>
          </a:p>
        </p:txBody>
      </p:sp>
      <p:sp>
        <p:nvSpPr>
          <p:cNvPr id="40" name="Text 34"/>
          <p:cNvSpPr txBox="1"/>
          <p:nvPr/>
        </p:nvSpPr>
        <p:spPr>
          <a:xfrm>
            <a:off x="8138160" y="4846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Revisões periódicas de rapidez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4572000" y="521208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4572000" y="5303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Novas funcionalidades</a:t>
            </a:r>
            <a:endParaRPr lang="en-US" sz="1250" dirty="0"/>
          </a:p>
        </p:txBody>
      </p:sp>
      <p:sp>
        <p:nvSpPr>
          <p:cNvPr id="43" name="Text 37"/>
          <p:cNvSpPr txBox="1"/>
          <p:nvPr/>
        </p:nvSpPr>
        <p:spPr>
          <a:xfrm>
            <a:off x="4572000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Desenvolvimento sob orçamento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8138160" y="5212080"/>
            <a:ext cx="338328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8138160" y="5303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Apoio técnico</a:t>
            </a:r>
            <a:endParaRPr lang="en-US" sz="1250" dirty="0"/>
          </a:p>
        </p:txBody>
      </p:sp>
      <p:sp>
        <p:nvSpPr>
          <p:cNvPr id="46" name="Text 40"/>
          <p:cNvSpPr txBox="1"/>
          <p:nvPr/>
        </p:nvSpPr>
        <p:spPr>
          <a:xfrm>
            <a:off x="8138160" y="55778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accent6"/>
                </a:solidFill>
              </a:rPr>
              <a:t>Esclarecimento à equipa ACAIL</a:t>
            </a:r>
            <a:endParaRPr lang="en-US" sz="1050" dirty="0"/>
          </a:p>
        </p:txBody>
      </p:sp>
      <p:sp>
        <p:nvSpPr>
          <p:cNvPr id="47" name="Text 41"/>
          <p:cNvSpPr txBox="1"/>
          <p:nvPr/>
        </p:nvSpPr>
        <p:spPr>
          <a:xfrm>
            <a:off x="4572000" y="5989320"/>
            <a:ext cx="7040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Níveis de serviço, horários e tempos de resposta definidos contratualmente, à medida das necessidades da ACAIL.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1"/>
                </a:solidFill>
              </a:rPr>
              <a:t>MODELO DE INVESTIMENTO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Uma proposta integrada, dimensionada para três realidades</a:t>
            </a:r>
            <a:endParaRPr lang="en-US" sz="2800" dirty="0"/>
          </a:p>
        </p:txBody>
      </p:sp>
      <p:graphicFrame>
        <p:nvGraphicFramePr>
          <p:cNvPr id="19" name="Matriz de investimento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8001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65960"/>
                <a:gridCol w="1965960"/>
                <a:gridCol w="19659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Componente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Proposta Essencial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6"/>
                          </a:solidFill>
                        </a:rPr>
                        <a:t>Três websites nucleares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Proposta Recomendada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A9B4BF"/>
                          </a:solidFill>
                        </a:rPr>
                        <a:t>Maior profundidade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Serviços Evolutivos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chemeClr val="accent6"/>
                          </a:solidFill>
                        </a:rPr>
                        <a:t>Contratação separada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Website ACAIL Angola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Websites institucionais responsivos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Maior profundidade editorial e CMS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Website ACAIL Gás Solucions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Conteúdos e funcionalidades nucleares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Soluções, aplicações e pedidos técnicos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Website ACAIL Pré-Fabricados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Catálogo base e pedido de orçamento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Catálogo estruturado e documentação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Componentes partilhados e integrações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Sistema de design e formulários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Funcionalidades comerciais selecionadas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Automatizações e integrações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Manutenção e evolução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Opcional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Opcional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chemeClr val="accent6"/>
                          </a:solidFill>
                        </a:rPr>
                        <a:t>Manutenção e desenvolvimento contínuo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Investimento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i="1" dirty="0">
                          <a:solidFill>
                            <a:schemeClr val="accent1"/>
                          </a:solidFill>
                        </a:rPr>
                        <a:t>A definir após levantamento de requisitos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i="1" dirty="0">
                          <a:solidFill>
                            <a:schemeClr val="accent1"/>
                          </a:solidFill>
                        </a:rPr>
                        <a:t>A definir após levantamento de requisitos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i="1" dirty="0">
                          <a:solidFill>
                            <a:schemeClr val="accent1"/>
                          </a:solidFill>
                        </a:rPr>
                        <a:t>A definir após levantamento de requisitos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C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852160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chemeClr val="accent6"/>
                </a:solidFill>
              </a:rPr>
              <a:t>Valores, impostos, condições de pagamento e calendário a inserir após validação do âmbito. Conteúdo dos pacotes sujeito a validação comercial.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187452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PORQUÊ CONTRATAR EM CONJUNTO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823960" y="2212848"/>
            <a:ext cx="281635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823960" y="230428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Estratégia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8823960" y="257860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Um Discovery para três realidades, em vez de três processos isolados.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23960" y="3081528"/>
            <a:ext cx="281635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823960" y="317296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Componentes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344728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Sistema de design e base técnica desenvolvidos uma vez e partilhados.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23960" y="3950208"/>
            <a:ext cx="281635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823960" y="404164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Aprovações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431596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Um calendário de decisão coordenado com a administração.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823960" y="4818888"/>
            <a:ext cx="2816352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823960" y="4910328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Gestão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8823960" y="5184648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chemeClr val="accent6"/>
                </a:solidFill>
              </a:rPr>
              <a:t>Um interlocutor, uma manutenção, uma linguagem visual.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5852160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Ganhos de eficiência potenciais, a quantificar na proposta financeira.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ustração conceptual de varão de aço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80960" y="0"/>
            <a:ext cx="4510735" cy="6858000"/>
          </a:xfrm>
          <a:prstGeom prst="rect">
            <a:avLst/>
          </a:prstGeom>
        </p:spPr>
      </p:pic>
      <p:sp>
        <p:nvSpPr>
          <p:cNvPr id="3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5"/>
                </a:solidFill>
              </a:rPr>
              <a:t>PORQUÊ A SMARTY SQUAD</a:t>
            </a:r>
            <a:endParaRPr lang="en-US" sz="9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Mais do que websites. Uma visão de parceria digital.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2011680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48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121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Compreensão do negócio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423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Partimos das três operações, não de um modelo.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77640" y="2011680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77640" y="2148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389120" y="212140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Três realidades industriais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389120" y="24231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Cada website responde ao seu público.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999232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136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3108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Estratégia coordenada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3410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Uma visão de grupo, três expressões.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977640" y="2999232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977640" y="31363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389120" y="3108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Design personalizado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34107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Concebido para a ACAIL, não adaptado de um template.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48640" y="3986784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123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960120" y="4096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Engenharia estruturada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960120" y="43982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Código organizado, documentado e sustentável.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977640" y="3986784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77640" y="41239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06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389120" y="40965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Foco no utilizador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389120" y="43982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Percursos curtos até à informação e ao contacto.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4974336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51114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07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60120" y="50840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Processo transparente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960120" y="53858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Fases, entregáveis e aprovações claras.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977640" y="4974336"/>
            <a:ext cx="3200400" cy="0"/>
          </a:xfrm>
          <a:prstGeom prst="line">
            <a:avLst/>
          </a:prstGeom>
          <a:noFill/>
          <a:ln w="9525">
            <a:solidFill>
              <a:srgbClr val="26354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977640" y="51114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08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389120" y="50840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Evolução a longo prazo</a:t>
            </a:r>
            <a:endParaRPr lang="en-US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389120" y="538581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B4BF"/>
                </a:solidFill>
              </a:rPr>
              <a:t>Uma base preparada para crescer.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A9B4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ustração conceptual de um complexo industrial ao entardec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48640" y="4389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5"/>
                </a:solidFill>
              </a:rPr>
              <a:t>PRÓXIMOS PASSOS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73152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spc="-50" kern="0" dirty="0">
                <a:solidFill>
                  <a:schemeClr val="bg1"/>
                </a:solidFill>
              </a:rPr>
              <a:t>O próximo capítulo digital da ACAIL começa com uma visão partilhada.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075688"/>
            <a:ext cx="347472" cy="347472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057400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Reunião de alinhamento com os responsáveis pelas três operações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642616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6426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262432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Validação dos objetivos, prioridades e requisitos de cada website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209544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" y="3209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319125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Levantamento e organização dos materiais disponíveis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3776472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4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3758184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Definição do âmbito, investimento e calendarização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347472" cy="347472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343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5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432511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Aprovação da proposta e início do projeto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0749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D5DEE7"/>
                </a:solidFill>
              </a:rPr>
              <a:t>“A dimensão da ACAIL merece uma presença digital que comunique, com a mesma confiança, a qualidade do seu trabalho.”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001000" y="3977640"/>
            <a:ext cx="3639312" cy="233172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>
            <a:solidFill>
              <a:srgbClr val="33475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7532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bg1"/>
                </a:solidFill>
              </a:rPr>
              <a:t>SMARTY SQUAD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275320" y="4590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Estratégia. Design. Tecnologia.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75320" y="5010912"/>
            <a:ext cx="3108960" cy="0"/>
          </a:xfrm>
          <a:prstGeom prst="line">
            <a:avLst/>
          </a:prstGeom>
          <a:noFill/>
          <a:ln w="9525">
            <a:solidFill>
              <a:srgbClr val="33475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75320" y="51206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chemeClr val="bg1"/>
                </a:solidFill>
              </a:rPr>
              <a:t>[Nome do responsável comercial]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BF"/>
                </a:solidFill>
              </a:rPr>
              <a:t>[Cargo]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BF"/>
                </a:solidFill>
              </a:rPr>
              <a:t>[email@smartysquad.com]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B4BF"/>
                </a:solidFill>
              </a:rPr>
              <a:t>[+244 / +351 telefone]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bretítulo"/>
          <p:cNvSpPr txBox="1"/>
          <p:nvPr/>
        </p:nvSpPr>
        <p:spPr>
          <a:xfrm>
            <a:off x="54864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chemeClr val="accent6"/>
                </a:solidFill>
              </a:rPr>
              <a:t>ANEXO</a:t>
            </a:r>
            <a:endParaRPr lang="en-US" sz="95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73152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Fontes e notas de validação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FONTES CONSULTADAS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67128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www.acailangola.com e página “Quem Somos” — referência indicada pelo cliente (acesso direto indisponível no ambiente de preparação; conteúdos baseados no briefing).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www.acailgas.pt — referência de identidade visual da Acail Gás (Portugal); acesso direto indisponível.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Ver Angola (ago. 2016; nov. 2017), ANGOP e Devex — confirmação de constituição em 2005, seis setores e localização no Pólo Industrial de Viana.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844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DADOS UTILIZADOS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87705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Constituição em 2005; seis setores de atividade; unidade de pré-fabricados em Mazozo (postes, blocos, tubos, lancis).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Projetos citados apenas pelo nome, tal como surgem no portefólio público; âmbito do fornecimento não indicado.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336792" y="18745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A VALIDAR COM A ACAIL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336792" y="2167128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Logótipos oficiais e códigos de cor de ACAIL Angola e ACAIL Gás.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Catálogo de gases e serviços da operação angolana (sem transposição da oferta em Portugal).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Designação “ACAIL GÁS SOLUCIONS” mantida conforme indicada pelo cliente.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“ACAIL Pré-Fabricados” como designação comercial, sem pressupor autonomia jurídica.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Fotografias com direitos de utilização; fichas técnicas e especificações.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336792" y="431596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chemeClr val="accent1"/>
                </a:solidFill>
              </a:rPr>
              <a:t>NOTAS SOBRE OS ELEMENTOS VISUAIS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4608576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Mockups: conceitos de design não aprovados. Ilustrações vetoriais conceptuais, que não representam instalações, produtos, colaboradores ou projetos reais.</a:t>
            </a:r>
            <a:endParaRPr lang="en-US" sz="1000" dirty="0"/>
          </a:p>
          <a:p>
            <a:pPr marL="152400" indent="-152400">
              <a:lnSpc>
                <a:spcPct val="1100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Wordmark Smarty Squad tipográfico; substituir pelo logótipo oficial.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64224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y Squad × ACAIL">
  <a:themeElements>
    <a:clrScheme name="Smarty Squad × ACAIL">
      <a:dk1>
        <a:srgbClr val="0A1520"/>
      </a:dk1>
      <a:lt1>
        <a:srgbClr val="FFFFFF"/>
      </a:lt1>
      <a:dk2>
        <a:srgbClr val="12202E"/>
      </a:dk2>
      <a:lt2>
        <a:srgbClr val="F3F5F7"/>
      </a:lt2>
      <a:accent1>
        <a:srgbClr val="1F5FA8"/>
      </a:accent1>
      <a:accent2>
        <a:srgbClr val="E0662B"/>
      </a:accent2>
      <a:accent3>
        <a:srgbClr val="8A6D3B"/>
      </a:accent3>
      <a:accent4>
        <a:srgbClr val="A39A8C"/>
      </a:accent4>
      <a:accent5>
        <a:srgbClr val="9FC3EA"/>
      </a:accent5>
      <a:accent6>
        <a:srgbClr val="5B6670"/>
      </a:accent6>
      <a:hlink>
        <a:srgbClr val="1F5FA8"/>
      </a:hlink>
      <a:folHlink>
        <a:srgbClr val="5B6670"/>
      </a:folHlink>
    </a:clrScheme>
    <a:fontScheme name="Smarty Squad × ACAIL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Smarty Squad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ACAIL Angola — Uma nova dimensão digital</dc:title>
  <dc:subject>Proposta estratégica para o desenvolvimento de três websites institucionais</dc:subject>
  <dc:creator>Smarty Squad</dc:creator>
  <cp:lastModifiedBy>Smarty Squad</cp:lastModifiedBy>
  <cp:revision>1</cp:revision>
  <dcterms:created xsi:type="dcterms:W3CDTF">2026-10-15T01:22:57Z</dcterms:created>
  <dcterms:modified xsi:type="dcterms:W3CDTF">2026-10-15T01:22:57Z</dcterms:modified>
</cp:coreProperties>
</file>